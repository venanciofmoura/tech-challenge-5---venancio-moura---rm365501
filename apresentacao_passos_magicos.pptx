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IDA Médio</c:v>
                </c:pt>
              </c:strCache>
            </c:strRef>
          </c:tx>
          <c:spPr>
            <a:solidFill>
              <a:srgbClr val="5BC0D2"/>
            </a:solidFill>
            <a:ln w="38100" cap="flat">
              <a:solidFill>
                <a:srgbClr val="5BC0D2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C0D2"/>
              </a:solidFill>
              <a:ln w="9525" cap="flat">
                <a:solidFill>
                  <a:srgbClr val="5BC0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6.09</c:v>
                </c:pt>
                <c:pt idx="1">
                  <c:v>6.66</c:v>
                </c:pt>
                <c:pt idx="2">
                  <c:v>6.35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IEG Médio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7.89</c:v>
                </c:pt>
                <c:pt idx="1">
                  <c:v>8.7</c:v>
                </c:pt>
                <c:pt idx="2">
                  <c:v>7.37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INDE Médio</c:v>
                </c:pt>
              </c:strCache>
            </c:strRef>
          </c:tx>
          <c:spPr>
            <a:solidFill>
              <a:srgbClr val="015E6A"/>
            </a:solidFill>
            <a:ln w="38100" cap="flat">
              <a:solidFill>
                <a:srgbClr val="015E6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15E6A"/>
              </a:solidFill>
              <a:ln w="9525" cap="flat">
                <a:solidFill>
                  <a:srgbClr val="015E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7.04</c:v>
                </c:pt>
                <c:pt idx="1">
                  <c:v>7.34</c:v>
                </c:pt>
                <c:pt idx="2">
                  <c:v>7.4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Média dos Indicadores</a:t>
                </a:r>
              </a:p>
            </c:rich>
          </c:tx>
          <c:overlay val="0"/>
        </c:title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5BC0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7.89</c:v>
                </c:pt>
                <c:pt idx="1">
                  <c:v>8.27</c:v>
                </c:pt>
                <c:pt idx="2">
                  <c:v>6.91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8.7</c:v>
                </c:pt>
                <c:pt idx="1">
                  <c:v>6.9</c:v>
                </c:pt>
                <c:pt idx="2">
                  <c:v>5.12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15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7.37</c:v>
                </c:pt>
                <c:pt idx="1">
                  <c:v>8.54</c:v>
                </c:pt>
                <c:pt idx="2">
                  <c:v>6.83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Média do Indicador</a:t>
                </a:r>
              </a:p>
            </c:rich>
          </c:tx>
          <c:overlay val="0"/>
        </c:title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 b="0">
              <a:solidFill>
                <a:srgbClr val="FFFFFF"/>
              </a:solidFill>
              <a:latin typeface="Arial"/>
            </a:defRPr>
          </a:pPr>
        </a:p>
      </c:txPr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com INDE (2024)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IDA</c:v>
                  </c:pt>
                  <c:pt idx="1">
                    <c:v>IEG</c:v>
                  </c:pt>
                  <c:pt idx="2">
                    <c:v>IPV</c:v>
                  </c:pt>
                  <c:pt idx="3">
                    <c:v>IPP</c:v>
                  </c:pt>
                  <c:pt idx="4">
                    <c:v>IAN</c:v>
                  </c:pt>
                  <c:pt idx="5">
                    <c:v>IAA</c:v>
                  </c:pt>
                  <c:pt idx="6">
                    <c:v>IPS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</c:v>
                </c:pt>
                <c:pt idx="1">
                  <c:v>0.79</c:v>
                </c:pt>
                <c:pt idx="2">
                  <c:v>0.76</c:v>
                </c:pt>
                <c:pt idx="3">
                  <c:v>0.64</c:v>
                </c:pt>
                <c:pt idx="4">
                  <c:v>0.37</c:v>
                </c:pt>
                <c:pt idx="5">
                  <c:v>0.36</c:v>
                </c:pt>
                <c:pt idx="6">
                  <c:v>0.23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Correlação com INDE (r)</a:t>
                </a:r>
              </a:p>
            </c:rich>
          </c:tx>
          <c:overlay val="0"/>
        </c:title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5BC0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15.3</c:v>
                </c:pt>
                <c:pt idx="1">
                  <c:v>29.1</c:v>
                </c:pt>
                <c:pt idx="2">
                  <c:v>40.5</c:v>
                </c:pt>
                <c:pt idx="3">
                  <c:v>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7.7</c:v>
                </c:pt>
                <c:pt idx="1">
                  <c:v>26.4</c:v>
                </c:pt>
                <c:pt idx="2">
                  <c:v>40.9</c:v>
                </c:pt>
                <c:pt idx="3">
                  <c:v>24.9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15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10.6</c:v>
                </c:pt>
                <c:pt idx="1">
                  <c:v>21.3</c:v>
                </c:pt>
                <c:pt idx="2">
                  <c:v>37.1</c:v>
                </c:pt>
                <c:pt idx="3">
                  <c:v>30.9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IDA</c:v>
                  </c:pt>
                  <c:pt idx="1">
                    <c:v>IPS×IDA</c:v>
                  </c:pt>
                  <c:pt idx="2">
                    <c:v>IDA/IEG</c:v>
                  </c:pt>
                  <c:pt idx="3">
                    <c:v>IAN</c:v>
                  </c:pt>
                  <c:pt idx="4">
                    <c:v>Gap Auto</c:v>
                  </c:pt>
                  <c:pt idx="5">
                    <c:v>IPV</c:v>
                  </c:pt>
                  <c:pt idx="6">
                    <c:v>IEG</c:v>
                  </c:pt>
                  <c:pt idx="7">
                    <c:v>IPP</c:v>
                  </c:pt>
                  <c:pt idx="8">
                    <c:v>IAA</c:v>
                  </c:pt>
                  <c:pt idx="9">
                    <c:v>Fase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0.328</c:v>
                </c:pt>
                <c:pt idx="1">
                  <c:v>0.137</c:v>
                </c:pt>
                <c:pt idx="2">
                  <c:v>0.111</c:v>
                </c:pt>
                <c:pt idx="3">
                  <c:v>0.11</c:v>
                </c:pt>
                <c:pt idx="4">
                  <c:v>0.085</c:v>
                </c:pt>
                <c:pt idx="5">
                  <c:v>0.085</c:v>
                </c:pt>
                <c:pt idx="6">
                  <c:v>0.059</c:v>
                </c:pt>
                <c:pt idx="7">
                  <c:v>0.023</c:v>
                </c:pt>
                <c:pt idx="8">
                  <c:v>0.022</c:v>
                </c:pt>
                <c:pt idx="9">
                  <c:v>0.021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Importância da Feature</a:t>
                </a:r>
              </a:p>
            </c:rich>
          </c:tx>
          <c:overlay val="0"/>
        </c:title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Mudando a vida de crianças e jovens por meio da educação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8321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– ANÁLISE DE DADOS EDUCACIONAIS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</a:rPr>
              <a:t>PEDE 2022, 2023 e 2024  ·  Identificação de padrões e previsão de risco de defasagem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Pós-Graduação Data Analytics  ·  FIAP PosTech  ·  Maio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3.030 alunos · PEDE 2022, 2023 e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 Análises Estratégicas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IAN, IDA, IEG, IAA, IPS, IPP, IPV, INDE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 de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Random Forest · ROC-AUC 0,97 · F1 0,85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Streamlit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Solução preditiva para uso pedagógico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4904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Conclusões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Insights e recomendações estratégicas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BASE DE DADOS PEDE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860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69,9%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55,6%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1.014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7,34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9184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54,4%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9184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65,8%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9184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1.156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7,40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46,2%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68,0%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C0D2"/>
                </a:solidFill>
              </a:rPr>
              <a:t>Crescimento de 34% no número de alunos atendidos de 2022 a 2024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– ADEQUAÇÃO AO NÍVEL: DEFASAGEM DOS ALUNOS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Distribuição por nível de defasagem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4433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3519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28.7%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6340" y="1508760"/>
            <a:ext cx="2398928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2060" y="1645920"/>
            <a:ext cx="230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47.7%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5269" y="1508760"/>
            <a:ext cx="950519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0989" y="1645920"/>
            <a:ext cx="859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18.9%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15788" y="1508760"/>
            <a:ext cx="23637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58775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496312"/>
            <a:ext cx="2293315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33472"/>
            <a:ext cx="22018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45.6%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16275" y="2496312"/>
            <a:ext cx="2021738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1995" y="2633472"/>
            <a:ext cx="1930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014" y="2496312"/>
            <a:ext cx="643738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3734" y="2633472"/>
            <a:ext cx="552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12.8%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81751" y="2496312"/>
            <a:ext cx="70409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57530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483864"/>
            <a:ext cx="270571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21024"/>
            <a:ext cx="2614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53.8%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8670" y="3483864"/>
            <a:ext cx="1916125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4390" y="3621024"/>
            <a:ext cx="18246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38.1%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4795" y="3483864"/>
            <a:ext cx="392278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7072" y="3483864"/>
            <a:ext cx="1508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68172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Sem Defas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4681728"/>
            <a:ext cx="201168" cy="201168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Leve (-1)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4681728"/>
            <a:ext cx="201168" cy="201168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Moderada (-2)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468172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Severa (-3+)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097280"/>
            <a:ext cx="2926080" cy="3749040"/>
          </a:xfrm>
          <a:prstGeom prst="roundRect">
            <a:avLst>
              <a:gd name="adj" fmla="val 25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C0D2"/>
                </a:solidFill>
              </a:rPr>
              <a:t>INSIGHT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164592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Redução de 23,7 p.p.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no percentual de alunos defasados entre 2022 e 2024.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2022: </a:t>
            </a:r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69,9% defasados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2024: </a:t>
            </a:r>
            <a:pPr indent="0" marL="0">
              <a:buNone/>
            </a:pPr>
            <a:r>
              <a:rPr lang="en-US" sz="1100" dirty="0">
                <a:solidFill>
                  <a:srgbClr val="5BC0D2"/>
                </a:solidFill>
              </a:rPr>
              <a:t>apenas 46,2%
</a:t>
            </a:r>
            <a:pPr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IAN médio subiu de 6,4 → 7,7 (+20%)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– DESEMPENHO ACADÊMICO: EVOLUÇÃO 2022–2024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435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C0D2"/>
                </a:solidFill>
              </a:rPr>
              <a:t>+9,4%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263640" y="1938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IDA 2022→2023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2542032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606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-4,7%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263640" y="3108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IDA 2023→2024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371246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37764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+5,1%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63640" y="4279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INDE 2022→2024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4709160"/>
            <a:ext cx="27432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Queda de IDA em 2024 requer atenção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(IEG), AUTOAVALIAÇÃO (IAA) E PSICOSSOCIAL (IPS)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Correlações-chave (2024)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60720" y="164592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6824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r(IEG, IDA) = 0,54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2029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Engajamento → Desempenho (2024)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542032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578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r(IEG, IPV) = 0,54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Engajamento → Ponto de Virada (2024)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438144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r(IAA, IDA) = 0,22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52160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Autoavaliação ≠ Desempenho Real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4334256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4370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r(IPS, IDA) = 0,01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47183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IPS: baixa correlação com IDA em 2024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IPP, IPV E MULTIDIMENSIONALIDADE DOS INDICADORES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Principais achados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6459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709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IPP + IAN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204825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Correlação baixa entre si (r≈0,10–0,15): IPP e IAN são indicadores independentes entre si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28346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898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IDA + IEG + IPV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23697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Maior combinação preditiva do INDE (r=0,80; 0,79 e 0,76 respectivamente em 2024)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40233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4087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Casos atípicos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44256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&lt; 1% têm IPP alto mas IAN baixo — programa apresenta consistência pedagógica elevada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 DO PROGRAMA PASSOS MÁGICOS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3350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+34%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737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Crescimento de alunos atendidos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2951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+12,4 p.p.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0" y="2697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Mais alunos em Ametista/Topázio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2004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2552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-23,7 p.p.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0" y="3657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Redução da taxa de defasagem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4215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10,6%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43600" y="4617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Indicados para bolsas em 2024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DE RISCO DE DEFASAGEM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0,97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ROC-AUC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0,85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F1-Score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0,92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Acurácia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300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294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Árvores RF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74320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852160" y="28346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C0D2"/>
                </a:solidFill>
              </a:rPr>
              <a:t>Definição de Risco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3337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Um aluno está EM RISCO se: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Defasagem ≤ -2 fases
</a:t>
            </a:r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INDE &lt; 6,0 (abaixo de Ágata)
</a:t>
            </a:r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IDA &lt; 5,0 (desempenho baixo)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STREAMLIT – SOLUÇÃO PREDITIVA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PREVISÃO INDIVIDUAL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Insira os indicadores de um aluno e receba em tempo real a probabilidade de risco de defasagem, classificação e recomendação pedagógica.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2004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Entrada: 11 indicadores (IAA, IEG, IPS, IDA, IPV, IAN, IPP + features derivadas)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794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Saída: probabilidade de risco + orientação didática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ANALÍTICO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Visualize a evolução completa do programa 2022–2024 com KPIs consolidados, distribuição por Pedra, tendências de desempenho e engajamento.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32841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32004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KPIs: INDE médio, defasagem, distribuição por Pedra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92277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3794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Gráficos interativos por ano e por indicador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Deploy: Streamlit Community Cloud  ·  Python · scikit-learn · Random Forest ·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 RECOMENDAÇÕES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GÊNERO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Meninas têm INDE ligeiramente maior em todas as coortes. Programas por gênero podem ampliar essa vantagem.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TEMPO NO PROGRAMA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Correlação positiva (r=0,42) entre anos na PM e INDE. Investir na retenção de alunos é estratégico.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ESCOLA DE ORIGEM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 da Rede Decisão têm INDE médio mais alto. Parceria com escolas específicas pode potencializar resultados.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ALERTA IDA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Queda de IDA 6,66→6,35 em 2024, mesmo com INDE subindo. Monitorar se mudança de metodologia afetou avaliação.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IEG CAINDO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IEG caiu de 8,70 (2023) para 7,37 (2024). Investigar causas: pós-pandemia, currículo ou mudança na métrica.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BOLSAS E IMPACTO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 indicados para bolsas têm INDE médio 0,8 pontos maior. Expandir o programa de bolsas pode ser transformador.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 que os dados revelam: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O programa funciona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INDE subiu 5%, defasagem caiu 24 p.p., Topázios triplicaram em 2 anos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323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Engajamento é chave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r(IEG,IPV)≈0,54: alunos engajados chegam ao Ponto de Virada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36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ML prediz risco com 97% AUC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Ferramenta pronta para uso em produção pela equipe pedagógica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867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41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! IDA e IEG caíram em 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525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Monitoramento necessário para entender a tendência recente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1828800" y="265176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PASSOS MÁGICOS  –  Mudando vidas por meio da educação
</a:t>
            </a:r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</a:rPr>
              <a:t>FIAP PosTech  ·  Data Analytics  ·  Datathon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passosmagicos.org.br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Mágicos 2026</dc:title>
  <dc:subject>PptxGenJS Presentation</dc:subject>
  <dc:creator>Venancio - FIAP PosTech</dc:creator>
  <cp:lastModifiedBy>Venancio - FIAP PosTech</cp:lastModifiedBy>
  <cp:revision>1</cp:revision>
  <dcterms:created xsi:type="dcterms:W3CDTF">2026-05-08T00:56:57Z</dcterms:created>
  <dcterms:modified xsi:type="dcterms:W3CDTF">2026-05-08T00:56:57Z</dcterms:modified>
</cp:coreProperties>
</file>